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928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1E1C"/>
          </a:solidFill>
          <a:ln w="12700">
            <a:solidFill>
              <a:srgbClr val="1E1E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kern="0" spc="300" dirty="0">
                <a:solidFill>
                  <a:srgbClr val="FFFFFF">
                    <a:alpha val="55000"/>
                  </a:srgbClr>
                </a:solidFill>
                <a:ea typeface="Courier New" pitchFamily="34" charset="-122"/>
                <a:cs typeface="Courier New" pitchFamily="34" charset="-120"/>
              </a:rPr>
              <a:t>UROP SHOWCASE · 2026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887968" y="128016"/>
            <a:ext cx="91440" cy="91440"/>
          </a:xfrm>
          <a:prstGeom prst="ellipse">
            <a:avLst/>
          </a:prstGeom>
          <a:solidFill>
            <a:srgbClr val="04BECD"/>
          </a:solidFill>
          <a:ln w="12700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4896612"/>
            <a:ext cx="9144000" cy="0"/>
          </a:xfrm>
          <a:prstGeom prst="line">
            <a:avLst/>
          </a:prstGeom>
          <a:noFill/>
          <a:ln w="6350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8229600" cy="12422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04BECD"/>
                </a:solidFill>
                <a:ea typeface="Calibri" pitchFamily="34" charset="-122"/>
                <a:cs typeface="Calibri" pitchFamily="34" charset="-120"/>
              </a:rPr>
              <a:t>Zero Trust Architecture</a:t>
            </a:r>
          </a:p>
          <a:p>
            <a:r>
              <a:rPr lang="en-US" altLang="ko-KR" sz="3800" b="1" dirty="0">
                <a:solidFill>
                  <a:srgbClr val="1E1E1C"/>
                </a:solidFill>
                <a:ea typeface="Calibri" pitchFamily="34" charset="-122"/>
                <a:cs typeface="Calibri" pitchFamily="34" charset="-120"/>
              </a:rPr>
              <a:t>Verify Everything, Trust Nothing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80061" y="2572730"/>
            <a:ext cx="347472" cy="50292"/>
          </a:xfrm>
          <a:prstGeom prst="rect">
            <a:avLst/>
          </a:prstGeom>
          <a:solidFill>
            <a:srgbClr val="04BECD"/>
          </a:solidFill>
          <a:ln w="12700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80061" y="2700746"/>
            <a:ext cx="1303020" cy="201168"/>
          </a:xfrm>
          <a:prstGeom prst="rect">
            <a:avLst/>
          </a:prstGeom>
          <a:solidFill>
            <a:srgbClr val="04BECD"/>
          </a:solidFill>
          <a:ln w="12700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480061" y="2700746"/>
            <a:ext cx="13030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ea typeface="Courier New" pitchFamily="34" charset="-122"/>
                <a:cs typeface="Courier New" pitchFamily="34" charset="-120"/>
              </a:rPr>
              <a:t>NIST SP 800-207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74521" y="2700746"/>
            <a:ext cx="617220" cy="201168"/>
          </a:xfrm>
          <a:prstGeom prst="rect">
            <a:avLst/>
          </a:prstGeom>
          <a:solidFill>
            <a:srgbClr val="E8F9FB"/>
          </a:solidFill>
          <a:ln w="9525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2" name="Text 10"/>
          <p:cNvSpPr/>
          <p:nvPr/>
        </p:nvSpPr>
        <p:spPr>
          <a:xfrm>
            <a:off x="1874521" y="2700746"/>
            <a:ext cx="617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7E8A"/>
                </a:solidFill>
                <a:ea typeface="Courier New" pitchFamily="34" charset="-122"/>
                <a:cs typeface="Courier New" pitchFamily="34" charset="-120"/>
              </a:rPr>
              <a:t>Istio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83181" y="2700746"/>
            <a:ext cx="480060" cy="201168"/>
          </a:xfrm>
          <a:prstGeom prst="rect">
            <a:avLst/>
          </a:prstGeom>
          <a:solidFill>
            <a:srgbClr val="E8F9FB"/>
          </a:solidFill>
          <a:ln w="9525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4" name="Text 12"/>
          <p:cNvSpPr/>
          <p:nvPr/>
        </p:nvSpPr>
        <p:spPr>
          <a:xfrm>
            <a:off x="2583181" y="270074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7E8A"/>
                </a:solidFill>
                <a:ea typeface="Courier New" pitchFamily="34" charset="-122"/>
                <a:cs typeface="Courier New" pitchFamily="34" charset="-120"/>
              </a:rPr>
              <a:t>OPA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1" y="2700746"/>
            <a:ext cx="822960" cy="201168"/>
          </a:xfrm>
          <a:prstGeom prst="rect">
            <a:avLst/>
          </a:prstGeom>
          <a:solidFill>
            <a:srgbClr val="E8F9FB"/>
          </a:solidFill>
          <a:ln w="9525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4"/>
          <p:cNvSpPr/>
          <p:nvPr/>
        </p:nvSpPr>
        <p:spPr>
          <a:xfrm>
            <a:off x="3154681" y="270074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7E8A"/>
                </a:solidFill>
                <a:ea typeface="Courier New" pitchFamily="34" charset="-122"/>
                <a:cs typeface="Courier New" pitchFamily="34" charset="-120"/>
              </a:rPr>
              <a:t>Keycloak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" y="3011642"/>
            <a:ext cx="5943601" cy="297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5C58"/>
                </a:solidFill>
                <a:ea typeface="Calibri" pitchFamily="34" charset="-122"/>
                <a:cs typeface="Calibri" pitchFamily="34" charset="-120"/>
              </a:rPr>
              <a:t>Built a working sandbox — attacked it with 5 real scenarios, verified every defense holds.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" y="331796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A4A49E"/>
                </a:solidFill>
                <a:ea typeface="Courier New" pitchFamily="34" charset="-122"/>
                <a:cs typeface="Courier New" pitchFamily="34" charset="-120"/>
              </a:rPr>
              <a:t>MINSOO AHN · 114743792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1E1C"/>
          </a:solidFill>
          <a:ln w="12700">
            <a:solidFill>
              <a:srgbClr val="1E1E1C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kern="0" spc="300" dirty="0">
                <a:solidFill>
                  <a:srgbClr val="FFFFFF">
                    <a:alpha val="5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PROBLEM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87968" y="128016"/>
            <a:ext cx="91440" cy="91440"/>
          </a:xfrm>
          <a:prstGeom prst="ellipse">
            <a:avLst/>
          </a:prstGeom>
          <a:solidFill>
            <a:srgbClr val="04BECD"/>
          </a:solidFill>
          <a:ln w="12700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896612"/>
            <a:ext cx="9144000" cy="0"/>
          </a:xfrm>
          <a:prstGeom prst="line">
            <a:avLst/>
          </a:prstGeom>
          <a:noFill/>
          <a:ln w="6350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027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ATTACKS WORK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E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stolen password — full cluster access</a:t>
            </a:r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38D5584-FC70-53C8-5F7D-D766ED9D36AF}"/>
              </a:ext>
            </a:extLst>
          </p:cNvPr>
          <p:cNvGrpSpPr/>
          <p:nvPr/>
        </p:nvGrpSpPr>
        <p:grpSpPr>
          <a:xfrm>
            <a:off x="457200" y="1689354"/>
            <a:ext cx="2268000" cy="1764792"/>
            <a:chOff x="457200" y="1689354"/>
            <a:chExt cx="2268000" cy="1764792"/>
          </a:xfrm>
        </p:grpSpPr>
        <p:sp>
          <p:nvSpPr>
            <p:cNvPr id="8" name="Shape 6"/>
            <p:cNvSpPr/>
            <p:nvPr/>
          </p:nvSpPr>
          <p:spPr>
            <a:xfrm>
              <a:off x="457200" y="1689354"/>
              <a:ext cx="2268000" cy="1764792"/>
            </a:xfrm>
            <a:prstGeom prst="rect">
              <a:avLst/>
            </a:prstGeom>
            <a:solidFill>
              <a:srgbClr val="FAFAF9"/>
            </a:solidFill>
            <a:ln w="9525">
              <a:solidFill>
                <a:srgbClr val="D8D8D4"/>
              </a:solidFill>
              <a:prstDash val="solid"/>
            </a:ln>
          </p:spPr>
          <p:txBody>
            <a:bodyPr/>
            <a:lstStyle/>
            <a:p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465038" y="1693926"/>
              <a:ext cx="64008" cy="1755648"/>
            </a:xfrm>
            <a:prstGeom prst="rect">
              <a:avLst/>
            </a:prstGeom>
            <a:solidFill>
              <a:srgbClr val="B33A3A"/>
            </a:solidFill>
            <a:ln w="12700">
              <a:solidFill>
                <a:srgbClr val="B33A3A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602198" y="1700784"/>
              <a:ext cx="640080" cy="3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B33A3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01</a:t>
              </a:r>
              <a:endPara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594360" y="2048256"/>
              <a:ext cx="19202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1E1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Phishing</a:t>
              </a:r>
              <a:endPara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594360" y="2414016"/>
              <a:ext cx="1678577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C5C5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Attacker sends a fake email. Employee clicks. Password stolen.</a:t>
              </a:r>
              <a:endPara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3" name="Text 11"/>
          <p:cNvSpPr/>
          <p:nvPr/>
        </p:nvSpPr>
        <p:spPr>
          <a:xfrm>
            <a:off x="2940051" y="2409444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4A49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1D54F5D-40D5-BB71-5678-166EFD9409A6}"/>
              </a:ext>
            </a:extLst>
          </p:cNvPr>
          <p:cNvGrpSpPr/>
          <p:nvPr/>
        </p:nvGrpSpPr>
        <p:grpSpPr>
          <a:xfrm>
            <a:off x="3438000" y="1689354"/>
            <a:ext cx="2268000" cy="1755648"/>
            <a:chOff x="3473414" y="1689354"/>
            <a:chExt cx="2268000" cy="1755648"/>
          </a:xfrm>
        </p:grpSpPr>
        <p:sp>
          <p:nvSpPr>
            <p:cNvPr id="14" name="Shape 12"/>
            <p:cNvSpPr/>
            <p:nvPr/>
          </p:nvSpPr>
          <p:spPr>
            <a:xfrm>
              <a:off x="3473414" y="1689354"/>
              <a:ext cx="2268000" cy="1755648"/>
            </a:xfrm>
            <a:prstGeom prst="rect">
              <a:avLst/>
            </a:prstGeom>
            <a:solidFill>
              <a:srgbClr val="FAFAF9"/>
            </a:solidFill>
            <a:ln w="9525">
              <a:solidFill>
                <a:srgbClr val="D8D8D4"/>
              </a:solidFill>
              <a:prstDash val="solid"/>
            </a:ln>
          </p:spPr>
          <p:txBody>
            <a:bodyPr/>
            <a:lstStyle/>
            <a:p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3482558" y="1689354"/>
              <a:ext cx="64008" cy="1755648"/>
            </a:xfrm>
            <a:prstGeom prst="rect">
              <a:avLst/>
            </a:prstGeom>
            <a:solidFill>
              <a:srgbClr val="A4A49E"/>
            </a:solidFill>
            <a:ln w="12700">
              <a:solidFill>
                <a:srgbClr val="A4A49E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3622984" y="1700784"/>
              <a:ext cx="640080" cy="3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A4A49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02</a:t>
              </a:r>
              <a:endPara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3619718" y="2043684"/>
              <a:ext cx="19202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1E1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Firewall passes</a:t>
              </a:r>
              <a:endPara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3633434" y="2409444"/>
              <a:ext cx="1799409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C5C5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Credential looks valid. Perimeter check passes. Attacker is inside.</a:t>
              </a:r>
              <a:endPara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9" name="Text 17"/>
          <p:cNvSpPr/>
          <p:nvPr/>
        </p:nvSpPr>
        <p:spPr>
          <a:xfrm>
            <a:off x="5933079" y="2408791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4A49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02D476B-EED1-DBFA-868B-ED923A3B80D1}"/>
              </a:ext>
            </a:extLst>
          </p:cNvPr>
          <p:cNvGrpSpPr/>
          <p:nvPr/>
        </p:nvGrpSpPr>
        <p:grpSpPr>
          <a:xfrm>
            <a:off x="6418800" y="1696210"/>
            <a:ext cx="2270611" cy="1764794"/>
            <a:chOff x="6629400" y="1702741"/>
            <a:chExt cx="2270611" cy="1764794"/>
          </a:xfrm>
        </p:grpSpPr>
        <p:sp>
          <p:nvSpPr>
            <p:cNvPr id="20" name="Shape 18"/>
            <p:cNvSpPr/>
            <p:nvPr/>
          </p:nvSpPr>
          <p:spPr>
            <a:xfrm>
              <a:off x="6632011" y="1705356"/>
              <a:ext cx="2268000" cy="1755648"/>
            </a:xfrm>
            <a:prstGeom prst="rect">
              <a:avLst/>
            </a:prstGeom>
            <a:solidFill>
              <a:srgbClr val="FAFAF9"/>
            </a:solidFill>
            <a:ln w="9525">
              <a:solidFill>
                <a:srgbClr val="D8D8D4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6629400" y="1711887"/>
              <a:ext cx="64008" cy="1755648"/>
            </a:xfrm>
            <a:prstGeom prst="rect">
              <a:avLst/>
            </a:prstGeom>
            <a:solidFill>
              <a:srgbClr val="04BECD"/>
            </a:solidFill>
            <a:ln w="12700">
              <a:solidFill>
                <a:srgbClr val="04BECD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6777663" y="1702741"/>
              <a:ext cx="640080" cy="3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4BEC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03</a:t>
              </a:r>
              <a:endPara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6766560" y="2089404"/>
              <a:ext cx="19202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1E1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Moves freely</a:t>
              </a:r>
              <a:endPara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6766560" y="2455164"/>
              <a:ext cx="1749117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C5C5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Pod A → Pod B → Database → Admin API. No checks. No alerts.</a:t>
              </a:r>
              <a:endPara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5" name="Shape 23"/>
          <p:cNvSpPr/>
          <p:nvPr/>
        </p:nvSpPr>
        <p:spPr>
          <a:xfrm>
            <a:off x="457200" y="4238571"/>
            <a:ext cx="8229600" cy="384048"/>
          </a:xfrm>
          <a:prstGeom prst="rect">
            <a:avLst/>
          </a:prstGeom>
          <a:solidFill>
            <a:srgbClr val="FAFAF9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238571"/>
            <a:ext cx="54864" cy="384048"/>
          </a:xfrm>
          <a:prstGeom prst="rect">
            <a:avLst/>
          </a:prstGeom>
          <a:solidFill>
            <a:srgbClr val="04BECD"/>
          </a:solidFill>
          <a:ln w="12700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3504" y="4238571"/>
            <a:ext cx="8028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"Once you're in, you're trusted." — Services inside Kubernetes trust each other by default.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1E1C"/>
          </a:solidFill>
          <a:ln w="12700">
            <a:solidFill>
              <a:srgbClr val="1E1E1C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kern="0" spc="300" dirty="0">
                <a:solidFill>
                  <a:srgbClr val="FFFFFF">
                    <a:alpha val="5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GAP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87968" y="128016"/>
            <a:ext cx="91440" cy="91440"/>
          </a:xfrm>
          <a:prstGeom prst="ellipse">
            <a:avLst/>
          </a:prstGeom>
          <a:solidFill>
            <a:srgbClr val="04BECD"/>
          </a:solidFill>
          <a:ln w="12700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896612"/>
            <a:ext cx="9144000" cy="0"/>
          </a:xfrm>
          <a:prstGeom prst="line">
            <a:avLst/>
          </a:prstGeom>
          <a:noFill/>
          <a:ln w="6350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027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TOOLS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E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make the same assumption</a:t>
            </a:r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49961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Trust established at the perimeter — assumed inside. None re-check after you're in.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2578608" cy="1828800"/>
          </a:xfrm>
          <a:prstGeom prst="rect">
            <a:avLst/>
          </a:prstGeom>
          <a:solidFill>
            <a:srgbClr val="FAFAF9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1792" y="230428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E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Firewall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1792" y="2688336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Blocks bad entry at the perimeter.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792" y="3264408"/>
            <a:ext cx="2249424" cy="0"/>
          </a:xfrm>
          <a:prstGeom prst="line">
            <a:avLst/>
          </a:prstGeom>
          <a:noFill/>
          <a:ln w="6350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" y="3328416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33A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✗  No visibility inside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9544" y="2121408"/>
            <a:ext cx="2578608" cy="1828800"/>
          </a:xfrm>
          <a:prstGeom prst="rect">
            <a:avLst/>
          </a:prstGeom>
          <a:solidFill>
            <a:srgbClr val="FAFAF9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74136" y="230428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E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VPN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74136" y="2688336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Encrypts the tunnel end-to-end.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74136" y="3264408"/>
            <a:ext cx="2249424" cy="0"/>
          </a:xfrm>
          <a:prstGeom prst="line">
            <a:avLst/>
          </a:prstGeom>
          <a:noFill/>
          <a:ln w="6350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74136" y="3328416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33A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✗  Broad access once connected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61888" y="2121408"/>
            <a:ext cx="2578608" cy="1828800"/>
          </a:xfrm>
          <a:prstGeom prst="rect">
            <a:avLst/>
          </a:prstGeom>
          <a:solidFill>
            <a:srgbClr val="FAFAF9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26480" y="230428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E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 Proxy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26480" y="2688336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Inspects request content.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26480" y="3264408"/>
            <a:ext cx="2249424" cy="0"/>
          </a:xfrm>
          <a:prstGeom prst="line">
            <a:avLst/>
          </a:prstGeom>
          <a:noFill/>
          <a:ln w="6350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26480" y="3328416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33A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✗  Can't verify workload identity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1E1C"/>
          </a:solidFill>
          <a:ln w="12700">
            <a:solidFill>
              <a:srgbClr val="1E1E1C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kern="0" spc="300" dirty="0">
                <a:solidFill>
                  <a:srgbClr val="FFFFFF">
                    <a:alpha val="5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87968" y="128016"/>
            <a:ext cx="91440" cy="91440"/>
          </a:xfrm>
          <a:prstGeom prst="ellipse">
            <a:avLst/>
          </a:prstGeom>
          <a:solidFill>
            <a:srgbClr val="04BECD"/>
          </a:solidFill>
          <a:ln w="12700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896612"/>
            <a:ext cx="9144000" cy="0"/>
          </a:xfrm>
          <a:prstGeom prst="line">
            <a:avLst/>
          </a:prstGeom>
          <a:noFill/>
          <a:ln w="6350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027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 TRUST ARCHITECTURE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E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request proves itself, every time</a:t>
            </a:r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347472"/>
          </a:xfrm>
          <a:prstGeom prst="rect">
            <a:avLst/>
          </a:prstGeom>
          <a:solidFill>
            <a:srgbClr val="FAFAF9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347472"/>
          </a:xfrm>
          <a:prstGeom prst="rect">
            <a:avLst/>
          </a:prstGeom>
          <a:solidFill>
            <a:srgbClr val="04BECD"/>
          </a:solidFill>
          <a:ln w="12700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3504" y="1737360"/>
            <a:ext cx="8028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"Never trust, always verify — no matter where the request comes from."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2578608" cy="1691640"/>
          </a:xfrm>
          <a:prstGeom prst="rect">
            <a:avLst/>
          </a:prstGeom>
          <a:solidFill>
            <a:srgbClr val="FAFAF9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" y="234086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7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PEP · ENFORCEMENT</a:t>
            </a:r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" y="256032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E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Istio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" y="2999232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Intercepts every request before the app code runs. Nothing slips through.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82696" y="2212848"/>
            <a:ext cx="2578608" cy="1691640"/>
          </a:xfrm>
          <a:prstGeom prst="rect">
            <a:avLst/>
          </a:prstGeom>
          <a:solidFill>
            <a:srgbClr val="FAFAF9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19856" y="234086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7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PDP · DECISION</a:t>
            </a:r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19856" y="257175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E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OPA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19856" y="2999232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Evaluates role, path, and device health on every single request.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08192" y="2212849"/>
            <a:ext cx="2578608" cy="1691640"/>
          </a:xfrm>
          <a:prstGeom prst="rect">
            <a:avLst/>
          </a:prstGeom>
          <a:solidFill>
            <a:srgbClr val="FAFAF9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45352" y="235458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7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IdP · IDENTITY</a:t>
            </a:r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45352" y="256032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E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Keycloak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45352" y="2999232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Issues cryptographically signed tokens (JWT). Cannot be forged.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4005072"/>
            <a:ext cx="8229600" cy="301752"/>
          </a:xfrm>
          <a:prstGeom prst="rect">
            <a:avLst/>
          </a:prstGeom>
          <a:solidFill>
            <a:srgbClr val="E8F9FB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4005072"/>
            <a:ext cx="54864" cy="301752"/>
          </a:xfrm>
          <a:prstGeom prst="rect">
            <a:avLst/>
          </a:prstGeom>
          <a:solidFill>
            <a:srgbClr val="04BECD"/>
          </a:solidFill>
          <a:ln w="12700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03504" y="4005072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7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Pod-to-pod: mTLS + SPIFFE — no certificate = no connection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1E1C"/>
          </a:solidFill>
          <a:ln w="12700">
            <a:solidFill>
              <a:srgbClr val="1E1E1C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kern="0" spc="300" dirty="0">
                <a:solidFill>
                  <a:srgbClr val="FFFFFF">
                    <a:alpha val="5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FLOW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87968" y="128016"/>
            <a:ext cx="91440" cy="91440"/>
          </a:xfrm>
          <a:prstGeom prst="ellipse">
            <a:avLst/>
          </a:prstGeom>
          <a:solidFill>
            <a:srgbClr val="04BECD"/>
          </a:solidFill>
          <a:ln w="12700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896612"/>
            <a:ext cx="9144000" cy="0"/>
          </a:xfrm>
          <a:prstGeom prst="line">
            <a:avLst/>
          </a:prstGeom>
          <a:noFill/>
          <a:ln w="6350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027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HAPPENS ON EVERY REQUEST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E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independent paths — zero shared weakness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146685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Bypassing one layer does not bypass the others.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3931920" cy="2601468"/>
          </a:xfrm>
          <a:prstGeom prst="rect">
            <a:avLst/>
          </a:prstGeom>
          <a:solidFill>
            <a:srgbClr val="FAFAF9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1792" y="1856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E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(North-South)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1792" y="2157984"/>
            <a:ext cx="3602736" cy="0"/>
          </a:xfrm>
          <a:prstGeom prst="line">
            <a:avLst/>
          </a:prstGeom>
          <a:noFill/>
          <a:ln w="6350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792" y="2233422"/>
            <a:ext cx="3602736" cy="347472"/>
          </a:xfrm>
          <a:prstGeom prst="rect">
            <a:avLst/>
          </a:prstGeom>
          <a:solidFill>
            <a:srgbClr val="EFEFED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3232" y="2233422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331720" y="2660142"/>
            <a:ext cx="1828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4A49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" y="2797048"/>
            <a:ext cx="3602736" cy="347472"/>
          </a:xfrm>
          <a:prstGeom prst="rect">
            <a:avLst/>
          </a:prstGeom>
          <a:solidFill>
            <a:srgbClr val="E8F9FB"/>
          </a:solidFill>
          <a:ln w="9525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13232" y="2797048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7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Istio — verify JWT signature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331720" y="3218688"/>
            <a:ext cx="1828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4A49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" y="3360674"/>
            <a:ext cx="3602736" cy="347472"/>
          </a:xfrm>
          <a:prstGeom prst="rect">
            <a:avLst/>
          </a:prstGeom>
          <a:solidFill>
            <a:srgbClr val="E8F9FB"/>
          </a:solidFill>
          <a:ln w="9525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3232" y="3358642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7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OPA — role + path + device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331720" y="3787140"/>
            <a:ext cx="1828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4A49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1792" y="3924300"/>
            <a:ext cx="3602736" cy="347472"/>
          </a:xfrm>
          <a:prstGeom prst="rect">
            <a:avLst/>
          </a:prstGeom>
          <a:solidFill>
            <a:srgbClr val="EAF4EF"/>
          </a:solidFill>
          <a:ln w="9525">
            <a:solidFill>
              <a:srgbClr val="2E6E50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3232" y="3924300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6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 reached ✓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54880" y="1755648"/>
            <a:ext cx="3931920" cy="2601468"/>
          </a:xfrm>
          <a:prstGeom prst="rect">
            <a:avLst/>
          </a:prstGeom>
          <a:solidFill>
            <a:srgbClr val="FAFAF9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19472" y="1856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E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Pod-to-Pod (East-West)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919472" y="2157984"/>
            <a:ext cx="3602736" cy="0"/>
          </a:xfrm>
          <a:prstGeom prst="line">
            <a:avLst/>
          </a:prstGeom>
          <a:noFill/>
          <a:ln w="6350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937760" y="2233422"/>
            <a:ext cx="3602736" cy="347472"/>
          </a:xfrm>
          <a:prstGeom prst="rect">
            <a:avLst/>
          </a:prstGeom>
          <a:solidFill>
            <a:srgbClr val="EFEFED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10912" y="2233422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1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A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29400" y="2660142"/>
            <a:ext cx="1828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4A49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937760" y="2797048"/>
            <a:ext cx="3602736" cy="347472"/>
          </a:xfrm>
          <a:prstGeom prst="rect">
            <a:avLst/>
          </a:prstGeom>
          <a:solidFill>
            <a:srgbClr val="E8F9FB"/>
          </a:solidFill>
          <a:ln w="9525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10912" y="2789301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7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mTLS — both sides present cert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29400" y="3218688"/>
            <a:ext cx="1828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4A49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937760" y="3360674"/>
            <a:ext cx="3602736" cy="347472"/>
          </a:xfrm>
          <a:prstGeom prst="rect">
            <a:avLst/>
          </a:prstGeom>
          <a:solidFill>
            <a:srgbClr val="E8F9FB"/>
          </a:solidFill>
          <a:ln w="9525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010912" y="3355848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7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SPIFFE — allowlist check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29400" y="3779774"/>
            <a:ext cx="1828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4A49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937760" y="3924300"/>
            <a:ext cx="3602736" cy="347472"/>
          </a:xfrm>
          <a:prstGeom prst="rect">
            <a:avLst/>
          </a:prstGeom>
          <a:solidFill>
            <a:srgbClr val="EAF4EF"/>
          </a:solidFill>
          <a:ln w="9525">
            <a:solidFill>
              <a:srgbClr val="2E6E50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992624" y="3924300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6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 reached ✓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57200" y="4443984"/>
            <a:ext cx="8229600" cy="347472"/>
          </a:xfrm>
          <a:prstGeom prst="rect">
            <a:avLst/>
          </a:prstGeom>
          <a:solidFill>
            <a:srgbClr val="1E1E1C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57200" y="4443984"/>
            <a:ext cx="54864" cy="347472"/>
          </a:xfrm>
          <a:prstGeom prst="rect">
            <a:avLst/>
          </a:prstGeom>
          <a:solidFill>
            <a:srgbClr val="04BECD"/>
          </a:solidFill>
          <a:ln w="12700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03504" y="4443984"/>
            <a:ext cx="8028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D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valid token can't bypass the cert check. A cert can't bypass the token check.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1E1C"/>
          </a:solidFill>
          <a:ln w="12700">
            <a:solidFill>
              <a:srgbClr val="1E1E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kern="0" spc="300" dirty="0">
                <a:solidFill>
                  <a:srgbClr val="FFFFFF">
                    <a:alpha val="55000"/>
                  </a:srgbClr>
                </a:solidFill>
                <a:ea typeface="Courier New" pitchFamily="34" charset="-122"/>
                <a:cs typeface="Courier New" pitchFamily="34" charset="-120"/>
              </a:rPr>
              <a:t>RESULTS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887968" y="128016"/>
            <a:ext cx="91440" cy="91440"/>
          </a:xfrm>
          <a:prstGeom prst="ellipse">
            <a:avLst/>
          </a:prstGeom>
          <a:solidFill>
            <a:srgbClr val="04BECD"/>
          </a:solidFill>
          <a:ln w="12700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4896612"/>
            <a:ext cx="9144000" cy="0"/>
          </a:xfrm>
          <a:prstGeom prst="line">
            <a:avLst/>
          </a:prstGeom>
          <a:noFill/>
          <a:ln w="6350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027E8A"/>
                </a:solidFill>
                <a:ea typeface="Courier New" pitchFamily="34" charset="-122"/>
                <a:cs typeface="Courier New" pitchFamily="34" charset="-120"/>
              </a:rPr>
              <a:t>5 SCENARIOS · 18 AUTOMATED TEST CASES</a:t>
            </a:r>
            <a:endParaRPr lang="en-US" sz="1200" b="1" dirty="0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E1C"/>
                </a:solidFill>
                <a:ea typeface="Calibri" pitchFamily="34" charset="-122"/>
                <a:cs typeface="Calibri" pitchFamily="34" charset="-120"/>
              </a:rPr>
              <a:t>Every attack blocked. Every allow passed.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7178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8"/>
                </a:solidFill>
                <a:ea typeface="Calibri" pitchFamily="34" charset="-122"/>
                <a:cs typeface="Calibri" pitchFamily="34" charset="-120"/>
              </a:rPr>
              <a:t>Identity alone is not enough — you need identity, permission, and context. All three, every time.</a:t>
            </a:r>
            <a:endParaRPr lang="en-US" sz="1400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B53F0CE-CEA5-285F-4BD7-D72DF3446218}"/>
              </a:ext>
            </a:extLst>
          </p:cNvPr>
          <p:cNvGrpSpPr/>
          <p:nvPr/>
        </p:nvGrpSpPr>
        <p:grpSpPr>
          <a:xfrm>
            <a:off x="457200" y="1783080"/>
            <a:ext cx="5852160" cy="448056"/>
            <a:chOff x="457200" y="1783080"/>
            <a:chExt cx="5852160" cy="347472"/>
          </a:xfrm>
        </p:grpSpPr>
        <p:sp>
          <p:nvSpPr>
            <p:cNvPr id="9" name="Shape 7"/>
            <p:cNvSpPr/>
            <p:nvPr/>
          </p:nvSpPr>
          <p:spPr>
            <a:xfrm>
              <a:off x="457200" y="1783080"/>
              <a:ext cx="5852160" cy="347472"/>
            </a:xfrm>
            <a:prstGeom prst="rect">
              <a:avLst/>
            </a:prstGeom>
            <a:solidFill>
              <a:srgbClr val="FAFAF9"/>
            </a:solidFill>
            <a:ln w="9525">
              <a:solidFill>
                <a:srgbClr val="D8D8D4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0" name="Text 8"/>
            <p:cNvSpPr/>
            <p:nvPr/>
          </p:nvSpPr>
          <p:spPr>
            <a:xfrm>
              <a:off x="603504" y="1783080"/>
              <a:ext cx="25603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7E8A"/>
                  </a:solidFill>
                  <a:ea typeface="Courier New" pitchFamily="34" charset="-122"/>
                  <a:cs typeface="Courier New" pitchFamily="34" charset="-120"/>
                </a:rPr>
                <a:t>A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914400" y="1783080"/>
              <a:ext cx="41605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1E1C"/>
                  </a:solidFill>
                  <a:ea typeface="Calibri" pitchFamily="34" charset="-122"/>
                  <a:cs typeface="Calibri" pitchFamily="34" charset="-120"/>
                </a:rPr>
                <a:t>Rogue pod — no certificate</a:t>
              </a:r>
              <a:endParaRPr lang="en-US" sz="14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945380" y="1856232"/>
              <a:ext cx="1290828" cy="201168"/>
            </a:xfrm>
            <a:prstGeom prst="rect">
              <a:avLst/>
            </a:prstGeom>
            <a:solidFill>
              <a:srgbClr val="E8F9FB"/>
            </a:solidFill>
            <a:ln w="9525">
              <a:solidFill>
                <a:srgbClr val="04BECD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3" name="Text 11"/>
            <p:cNvSpPr/>
            <p:nvPr/>
          </p:nvSpPr>
          <p:spPr>
            <a:xfrm>
              <a:off x="4945380" y="1856232"/>
              <a:ext cx="129082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027E8A"/>
                  </a:solidFill>
                  <a:ea typeface="Courier New" pitchFamily="34" charset="-122"/>
                  <a:cs typeface="Courier New" pitchFamily="34" charset="-120"/>
                </a:rPr>
                <a:t>mTLS + SPIFFE</a:t>
              </a:r>
              <a:endParaRPr lang="en-US" sz="900" dirty="0"/>
            </a:p>
          </p:txBody>
        </p:sp>
      </p:grpSp>
      <p:sp>
        <p:nvSpPr>
          <p:cNvPr id="14" name="Shape 12"/>
          <p:cNvSpPr/>
          <p:nvPr/>
        </p:nvSpPr>
        <p:spPr>
          <a:xfrm>
            <a:off x="457200" y="2280857"/>
            <a:ext cx="5852160" cy="448056"/>
          </a:xfrm>
          <a:prstGeom prst="rect">
            <a:avLst/>
          </a:prstGeom>
          <a:solidFill>
            <a:srgbClr val="FAFAF9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5" name="Text 13"/>
          <p:cNvSpPr/>
          <p:nvPr/>
        </p:nvSpPr>
        <p:spPr>
          <a:xfrm>
            <a:off x="603504" y="2280857"/>
            <a:ext cx="256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E8A"/>
                </a:solidFill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280857"/>
            <a:ext cx="4160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1C"/>
                </a:solidFill>
                <a:ea typeface="Calibri" pitchFamily="34" charset="-122"/>
                <a:cs typeface="Calibri" pitchFamily="34" charset="-120"/>
              </a:rPr>
              <a:t>Forged JWT token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45380" y="2375185"/>
            <a:ext cx="1290828" cy="259401"/>
          </a:xfrm>
          <a:prstGeom prst="rect">
            <a:avLst/>
          </a:prstGeom>
          <a:solidFill>
            <a:srgbClr val="E8F9FB"/>
          </a:solidFill>
          <a:ln w="9525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45380" y="2375185"/>
            <a:ext cx="1290828" cy="259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7E8A"/>
                </a:solidFill>
                <a:ea typeface="Courier New" pitchFamily="34" charset="-122"/>
                <a:cs typeface="Courier New" pitchFamily="34" charset="-120"/>
              </a:rPr>
              <a:t>Istio sig check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778634"/>
            <a:ext cx="5852160" cy="448056"/>
          </a:xfrm>
          <a:prstGeom prst="rect">
            <a:avLst/>
          </a:prstGeom>
          <a:solidFill>
            <a:srgbClr val="FAFAF9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0" name="Text 18"/>
          <p:cNvSpPr/>
          <p:nvPr/>
        </p:nvSpPr>
        <p:spPr>
          <a:xfrm>
            <a:off x="603504" y="2778634"/>
            <a:ext cx="256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E8A"/>
                </a:solidFill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778634"/>
            <a:ext cx="4160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1C"/>
                </a:solidFill>
                <a:ea typeface="Calibri" pitchFamily="34" charset="-122"/>
                <a:cs typeface="Calibri" pitchFamily="34" charset="-120"/>
              </a:rPr>
              <a:t>User accessing admin path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45380" y="2872962"/>
            <a:ext cx="1290828" cy="259401"/>
          </a:xfrm>
          <a:prstGeom prst="rect">
            <a:avLst/>
          </a:prstGeom>
          <a:solidFill>
            <a:srgbClr val="E8F9FB"/>
          </a:solidFill>
          <a:ln w="9525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3" name="Text 21"/>
          <p:cNvSpPr/>
          <p:nvPr/>
        </p:nvSpPr>
        <p:spPr>
          <a:xfrm>
            <a:off x="4945380" y="2872962"/>
            <a:ext cx="1290828" cy="259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7E8A"/>
                </a:solidFill>
                <a:ea typeface="Courier New" pitchFamily="34" charset="-122"/>
                <a:cs typeface="Courier New" pitchFamily="34" charset="-120"/>
              </a:rPr>
              <a:t>OPA path policy</a:t>
            </a:r>
            <a:endParaRPr lang="en-US" sz="9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F610666-1C88-E8B7-2A37-6F52D3D075CA}"/>
              </a:ext>
            </a:extLst>
          </p:cNvPr>
          <p:cNvGrpSpPr/>
          <p:nvPr/>
        </p:nvGrpSpPr>
        <p:grpSpPr>
          <a:xfrm>
            <a:off x="457200" y="3276411"/>
            <a:ext cx="5852160" cy="448056"/>
            <a:chOff x="457200" y="2990088"/>
            <a:chExt cx="5852160" cy="347472"/>
          </a:xfrm>
        </p:grpSpPr>
        <p:sp>
          <p:nvSpPr>
            <p:cNvPr id="24" name="Shape 22"/>
            <p:cNvSpPr/>
            <p:nvPr/>
          </p:nvSpPr>
          <p:spPr>
            <a:xfrm>
              <a:off x="457200" y="2990088"/>
              <a:ext cx="5852160" cy="347472"/>
            </a:xfrm>
            <a:prstGeom prst="rect">
              <a:avLst/>
            </a:prstGeom>
            <a:solidFill>
              <a:srgbClr val="FAFAF9"/>
            </a:solidFill>
            <a:ln w="9525">
              <a:solidFill>
                <a:srgbClr val="D8D8D4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5" name="Text 23"/>
            <p:cNvSpPr/>
            <p:nvPr/>
          </p:nvSpPr>
          <p:spPr>
            <a:xfrm>
              <a:off x="603504" y="2990088"/>
              <a:ext cx="25603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7E8A"/>
                  </a:solidFill>
                  <a:ea typeface="Courier New" pitchFamily="34" charset="-122"/>
                  <a:cs typeface="Courier New" pitchFamily="34" charset="-120"/>
                </a:rPr>
                <a:t>D</a:t>
              </a:r>
              <a:endParaRPr lang="en-US" sz="12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914400" y="2990088"/>
              <a:ext cx="41605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1E1C"/>
                  </a:solidFill>
                  <a:ea typeface="Calibri" pitchFamily="34" charset="-122"/>
                  <a:cs typeface="Calibri" pitchFamily="34" charset="-120"/>
                </a:rPr>
                <a:t>Viewer JWT used for admin role</a:t>
              </a:r>
              <a:endParaRPr lang="en-US" sz="14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945380" y="3063240"/>
              <a:ext cx="1290828" cy="201168"/>
            </a:xfrm>
            <a:prstGeom prst="rect">
              <a:avLst/>
            </a:prstGeom>
            <a:solidFill>
              <a:srgbClr val="E8F9FB"/>
            </a:solidFill>
            <a:ln w="9525">
              <a:solidFill>
                <a:srgbClr val="04BECD"/>
              </a:solidFill>
              <a:prstDash val="solid"/>
            </a:ln>
          </p:spPr>
          <p:txBody>
            <a:bodyPr/>
            <a:lstStyle/>
            <a:p>
              <a:endParaRPr lang="ko-KR" altLang="en-US" sz="20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945380" y="3063240"/>
              <a:ext cx="129082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027E8A"/>
                  </a:solidFill>
                  <a:ea typeface="Courier New" pitchFamily="34" charset="-122"/>
                  <a:cs typeface="Courier New" pitchFamily="34" charset="-120"/>
                </a:rPr>
                <a:t>OPA claim check</a:t>
              </a:r>
              <a:endParaRPr lang="en-US" sz="9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970B5F4-377F-24F8-E1BE-699CF0BB8441}"/>
              </a:ext>
            </a:extLst>
          </p:cNvPr>
          <p:cNvGrpSpPr/>
          <p:nvPr/>
        </p:nvGrpSpPr>
        <p:grpSpPr>
          <a:xfrm>
            <a:off x="457200" y="3774186"/>
            <a:ext cx="5852160" cy="448056"/>
            <a:chOff x="457200" y="3774186"/>
            <a:chExt cx="5852160" cy="347472"/>
          </a:xfrm>
        </p:grpSpPr>
        <p:sp>
          <p:nvSpPr>
            <p:cNvPr id="29" name="Shape 27"/>
            <p:cNvSpPr/>
            <p:nvPr/>
          </p:nvSpPr>
          <p:spPr>
            <a:xfrm>
              <a:off x="457200" y="3774186"/>
              <a:ext cx="5852160" cy="347472"/>
            </a:xfrm>
            <a:prstGeom prst="rect">
              <a:avLst/>
            </a:prstGeom>
            <a:solidFill>
              <a:srgbClr val="FAFAF9"/>
            </a:solidFill>
            <a:ln w="9525">
              <a:solidFill>
                <a:srgbClr val="D8D8D4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30" name="Text 28"/>
            <p:cNvSpPr/>
            <p:nvPr/>
          </p:nvSpPr>
          <p:spPr>
            <a:xfrm>
              <a:off x="603504" y="3774186"/>
              <a:ext cx="25603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7E8A"/>
                  </a:solidFill>
                  <a:ea typeface="Courier New" pitchFamily="34" charset="-122"/>
                  <a:cs typeface="Courier New" pitchFamily="34" charset="-120"/>
                </a:rPr>
                <a:t>E</a:t>
              </a:r>
              <a:endParaRPr lang="en-US" sz="1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914400" y="3774186"/>
              <a:ext cx="41605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1E1C"/>
                  </a:solidFill>
                  <a:ea typeface="Calibri" pitchFamily="34" charset="-122"/>
                  <a:cs typeface="Calibri" pitchFamily="34" charset="-120"/>
                </a:rPr>
                <a:t>Admin token, bad device posture</a:t>
              </a:r>
              <a:endParaRPr lang="en-US" sz="14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945380" y="3847338"/>
              <a:ext cx="1290828" cy="201168"/>
            </a:xfrm>
            <a:prstGeom prst="rect">
              <a:avLst/>
            </a:prstGeom>
            <a:solidFill>
              <a:srgbClr val="E8F9FB"/>
            </a:solidFill>
            <a:ln w="9525">
              <a:solidFill>
                <a:srgbClr val="04BECD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33" name="Text 31"/>
            <p:cNvSpPr/>
            <p:nvPr/>
          </p:nvSpPr>
          <p:spPr>
            <a:xfrm>
              <a:off x="4945380" y="3847338"/>
              <a:ext cx="129082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027E8A"/>
                  </a:solidFill>
                  <a:ea typeface="Courier New" pitchFamily="34" charset="-122"/>
                  <a:cs typeface="Courier New" pitchFamily="34" charset="-120"/>
                </a:rPr>
                <a:t>OPA posture</a:t>
              </a:r>
              <a:endParaRPr lang="en-US" sz="900" dirty="0"/>
            </a:p>
          </p:txBody>
        </p:sp>
      </p:grpSp>
      <p:sp>
        <p:nvSpPr>
          <p:cNvPr id="34" name="Shape 32"/>
          <p:cNvSpPr/>
          <p:nvPr/>
        </p:nvSpPr>
        <p:spPr>
          <a:xfrm>
            <a:off x="6473952" y="1783080"/>
            <a:ext cx="2212848" cy="2338578"/>
          </a:xfrm>
          <a:prstGeom prst="rect">
            <a:avLst/>
          </a:prstGeom>
          <a:solidFill>
            <a:srgbClr val="FAFAF9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473952" y="1783080"/>
            <a:ext cx="64008" cy="2338578"/>
          </a:xfrm>
          <a:prstGeom prst="rect">
            <a:avLst/>
          </a:prstGeom>
          <a:solidFill>
            <a:srgbClr val="04BECD"/>
          </a:solidFill>
          <a:ln w="12700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656832" y="1947672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27E8A"/>
                </a:solidFill>
                <a:ea typeface="Courier New" pitchFamily="34" charset="-122"/>
                <a:cs typeface="Courier New" pitchFamily="34" charset="-120"/>
              </a:rPr>
              <a:t>RESULT</a:t>
            </a:r>
            <a:endParaRPr lang="en-US" sz="1000" b="1" dirty="0"/>
          </a:p>
        </p:txBody>
      </p:sp>
      <p:sp>
        <p:nvSpPr>
          <p:cNvPr id="38" name="Text 36"/>
          <p:cNvSpPr/>
          <p:nvPr/>
        </p:nvSpPr>
        <p:spPr>
          <a:xfrm>
            <a:off x="6656832" y="218541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1E1C"/>
                </a:solidFill>
                <a:ea typeface="Calibri" pitchFamily="34" charset="-122"/>
                <a:cs typeface="Calibri" pitchFamily="34" charset="-120"/>
              </a:rPr>
              <a:t>All pass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656832" y="250317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5C5C58"/>
                </a:solidFill>
                <a:ea typeface="Calibri" pitchFamily="34" charset="-122"/>
                <a:cs typeface="Calibri" pitchFamily="34" charset="-120"/>
              </a:rPr>
              <a:t>Each layer blocked what it was designed to block — independently.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1E1C"/>
          </a:solidFill>
          <a:ln w="12700">
            <a:solidFill>
              <a:srgbClr val="1E1E1C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kern="0" spc="300" dirty="0">
                <a:solidFill>
                  <a:srgbClr val="FFFFFF">
                    <a:alpha val="5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87968" y="128016"/>
            <a:ext cx="91440" cy="91440"/>
          </a:xfrm>
          <a:prstGeom prst="ellipse">
            <a:avLst/>
          </a:prstGeom>
          <a:solidFill>
            <a:srgbClr val="04BECD"/>
          </a:solidFill>
          <a:ln w="12700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896612"/>
            <a:ext cx="9144000" cy="0"/>
          </a:xfrm>
          <a:prstGeom prst="line">
            <a:avLst/>
          </a:prstGeom>
          <a:noFill/>
          <a:ln w="6350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027E8A"/>
                </a:solidFill>
                <a:cs typeface="Courier New" pitchFamily="34" charset="-120"/>
              </a:rPr>
              <a:t>WHAT ZTA FILLS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1E1C"/>
                </a:solidFill>
                <a:ea typeface="Calibri" pitchFamily="34" charset="-122"/>
                <a:cs typeface="Calibri" pitchFamily="34" charset="-120"/>
              </a:rPr>
              <a:t>The gap firewalls were never designed to close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8"/>
                </a:solidFill>
                <a:ea typeface="Calibri" pitchFamily="34" charset="-122"/>
                <a:cs typeface="Calibri" pitchFamily="34" charset="-120"/>
              </a:rPr>
              <a:t>Open-source stack on a local cluster. Production-grade security. +1.53ms average overhead.</a:t>
            </a:r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3931920" cy="1901952"/>
          </a:xfrm>
          <a:prstGeom prst="rect">
            <a:avLst/>
          </a:prstGeom>
          <a:solidFill>
            <a:srgbClr val="FAFAF9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64008" cy="1901952"/>
          </a:xfrm>
          <a:prstGeom prst="rect">
            <a:avLst/>
          </a:prstGeom>
          <a:solidFill>
            <a:srgbClr val="E8C4C4"/>
          </a:solidFill>
          <a:ln w="12700">
            <a:solidFill>
              <a:srgbClr val="E8C4C4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3A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tools miss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5054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33A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✗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9536" y="250545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East-West traffic visibility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33A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✗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9536" y="283464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Per-request re-verification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316382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33A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✗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9536" y="316382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Context-aware authorization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34930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33A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✗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9536" y="349300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Lateral movement containment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1993392"/>
            <a:ext cx="3931920" cy="1901952"/>
          </a:xfrm>
          <a:prstGeom prst="rect">
            <a:avLst/>
          </a:prstGeom>
          <a:solidFill>
            <a:srgbClr val="FAFAF9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1993392"/>
            <a:ext cx="64008" cy="1901952"/>
          </a:xfrm>
          <a:prstGeom prst="rect">
            <a:avLst/>
          </a:prstGeom>
          <a:solidFill>
            <a:srgbClr val="04BECD"/>
          </a:solidFill>
          <a:ln w="12700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3776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7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ZTA enforces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37760" y="25054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6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57216" y="250545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Cryptographic workload identity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7760" y="28346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6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57216" y="283464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request re-evaluated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37760" y="316382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6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157216" y="316382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 + path + device, per request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937760" y="34930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6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157216" y="349300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Blocked at infrastructure layer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8229600" cy="384048"/>
          </a:xfrm>
          <a:prstGeom prst="rect">
            <a:avLst/>
          </a:prstGeom>
          <a:solidFill>
            <a:srgbClr val="FAFAF9"/>
          </a:solidFill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" y="3977640"/>
            <a:ext cx="54864" cy="384048"/>
          </a:xfrm>
          <a:prstGeom prst="rect">
            <a:avLst/>
          </a:prstGeom>
          <a:solidFill>
            <a:srgbClr val="04BECD"/>
          </a:solidFill>
          <a:ln w="12700">
            <a:solidFill>
              <a:srgbClr val="04BECD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03504" y="3977640"/>
            <a:ext cx="8028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5C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"Zero Trust isn't a product you buy — it's an architecture you enforce, one request at a time."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540</Words>
  <Application>Microsoft Office PowerPoint</Application>
  <PresentationFormat>화면 슬라이드 쇼(16:9)</PresentationFormat>
  <Paragraphs>124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Trust Architecture: Proven Security on Kubernetes</dc:title>
  <dc:subject>PptxGenJS Presentation</dc:subject>
  <dc:creator>PptxGenJS</dc:creator>
  <cp:lastModifiedBy>Minsoo Ahn</cp:lastModifiedBy>
  <cp:revision>3</cp:revision>
  <dcterms:created xsi:type="dcterms:W3CDTF">2026-05-22T18:39:23Z</dcterms:created>
  <dcterms:modified xsi:type="dcterms:W3CDTF">2026-05-23T01:08:43Z</dcterms:modified>
</cp:coreProperties>
</file>